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9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0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1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2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Hospital Management System (HMS)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Comprehensive Project Implementation &amp; Market Research</a:t>
            </a:r>
          </a:p>
          <a:p>
            <a:r>
              <a:rPr lang="en-US"/>
              <a:t>Presented By: You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&amp; Project 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Objective: Automate and streamline day-to-day operations of hospitals and clinics.</a:t>
            </a:r>
          </a:p>
          <a:p>
            <a:r>
              <a:rPr lang="en-US"/>
              <a:t>Scope: Patient registration, appointments, emergency services, blood bank, and inventory.</a:t>
            </a:r>
          </a:p>
          <a:p>
            <a:r>
              <a:rPr lang="en-US"/>
              <a:t>Goal: Create a paperless, centralized, and secure healthcare management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Manual Record Keeping: Prone to errors, data loss, and delays.</a:t>
            </a:r>
          </a:p>
          <a:p>
            <a:r>
              <a:rPr lang="en-US"/>
              <a:t>Fragmented Communication: Lack of coordination between doctors and emergency staff.</a:t>
            </a:r>
          </a:p>
          <a:p>
            <a:r>
              <a:rPr lang="en-US"/>
              <a:t>Resource Mismanagement: Difficulty tracking beds, blood inventory, and medicine stock.</a:t>
            </a:r>
          </a:p>
          <a:p>
            <a:r>
              <a:rPr lang="en-US"/>
              <a:t>Patient Inconvenience: Long waiting times for appointments and lab tests.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 Research: Unique Features in India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ABDM &amp; ABHA Integration: Generating Health IDs for seamless data sharing.</a:t>
            </a:r>
          </a:p>
          <a:p>
            <a:r>
              <a:rPr lang="en-US"/>
              <a:t>GST-Compliant Billing: Built-in tax structures specific to Indian regulations.</a:t>
            </a:r>
          </a:p>
          <a:p>
            <a:r>
              <a:rPr lang="en-US"/>
              <a:t>Multi-lingual Support: Supporting local Indian languages for rural reach.</a:t>
            </a:r>
          </a:p>
          <a:p>
            <a:r>
              <a:rPr lang="en-US"/>
              <a:t>WhatsApp/SMS Integration: Extremely popular in India for appointment reminders and reports.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Competitors &amp; Market Size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many competitors? The Indian market is highly fragmented with 50+ major players.</a:t>
            </a:r>
          </a:p>
          <a:p>
            <a:r>
              <a:rPr lang="en-US"/>
              <a:t>Top Competitors: Practo Insta, MocDoc, SoftClinic, eHospital (NIC), KareXpert.</a:t>
            </a:r>
          </a:p>
          <a:p>
            <a:r>
              <a:rPr lang="en-US"/>
              <a:t>User Base: 75% of hospitals are adopting cloud. Millions of records processed daily.</a:t>
            </a:r>
          </a:p>
          <a:p>
            <a:r>
              <a:rPr lang="en-US"/>
              <a:t>Growth: The market is growing at a CAGR of 11-21% annually.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Are They Famous?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Practo Insta: Famous for its massive consumer app ecosystem and enterprise scale.</a:t>
            </a:r>
          </a:p>
          <a:p>
            <a:r>
              <a:rPr lang="en-US"/>
              <a:t>MocDoc: Known for its highly intuitive, budget-friendly cloud platform for mid-sized clinics.</a:t>
            </a:r>
          </a:p>
          <a:p>
            <a:r>
              <a:rPr lang="en-US"/>
              <a:t>SoftClinic: Famous for its modular, customizable approach for varied specialties.</a:t>
            </a:r>
          </a:p>
          <a:p>
            <a:r>
              <a:rPr lang="en-US"/>
              <a:t>eHospital: Backed by the Govt of India (NIC), heavily used in public hospitals.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Strengths &amp; Weaknesses of Competitors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Strengths:</a:t>
            </a:r>
          </a:p>
          <a:p>
            <a:r>
              <a:rPr lang="en-US"/>
              <a:t>- Strong established trust and local support teams.</a:t>
            </a:r>
          </a:p>
          <a:p>
            <a:r>
              <a:rPr lang="en-US"/>
              <a:t>- Deep integration with Indian payment gateways (Razorpay, Paytm).</a:t>
            </a:r>
          </a:p>
          <a:p>
            <a:r>
              <a:rPr lang="en-US"/>
              <a:t>Weaknesses:</a:t>
            </a:r>
          </a:p>
          <a:p>
            <a:r>
              <a:rPr lang="en-US"/>
              <a:t>- Legacy systems are bulky and hard to transition to cloud.</a:t>
            </a:r>
          </a:p>
          <a:p>
            <a:r>
              <a:rPr lang="en-US"/>
              <a:t>- Very poor pricing transparency (mostly quote-based hidden fees).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Pricing &amp; Charging Comparison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Practo Insta: Enterprise pricing. ₹50,000+ setup fee + high annual costs.</a:t>
            </a:r>
          </a:p>
          <a:p>
            <a:r>
              <a:rPr lang="en-US"/>
              <a:t>MocDoc: Budget-friendly. Solo clinics pay ~₹3,500 to ₹8,000/month.</a:t>
            </a:r>
          </a:p>
          <a:p>
            <a:r>
              <a:rPr lang="en-US"/>
              <a:t>SoftClinic: Highly modular. Charged per-user/per-module annually.</a:t>
            </a:r>
          </a:p>
          <a:p>
            <a:r>
              <a:rPr lang="en-US"/>
              <a:t>Market Average: Small hospitals (10-50 beds) pay ₹8,000 - ₹25,000/month.</a:t>
            </a:r>
          </a:p>
          <a:p>
            <a:r>
              <a:rPr lang="en-US"/>
              <a:t>*Note: AMC (Annual Maintenance Contracts) add 10-20% extra costs.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Target Audience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Tier 1: Mid-to-Large scale Multi-Specialty Hospitals looking to digitize IPD/OPD.</a:t>
            </a:r>
          </a:p>
          <a:p>
            <a:r>
              <a:rPr lang="en-US"/>
              <a:t>Tier 2: Diagnostic Laboratories and Pharmacy Chains needing inventory and LIS integrations.</a:t>
            </a:r>
          </a:p>
          <a:p>
            <a:r>
              <a:rPr lang="en-US"/>
              <a:t>Tier 3: Solo practitioners and small community clinics needing basic EMR and billing.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Proposed Solution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Centralized Database: Single source of truth to counter market fragmentation.</a:t>
            </a:r>
          </a:p>
          <a:p>
            <a:r>
              <a:rPr lang="en-US"/>
              <a:t>Real-time Tracking: Instant updates on beds, blood stock, and ambulances.</a:t>
            </a:r>
          </a:p>
          <a:p>
            <a:r>
              <a:rPr lang="en-US"/>
              <a:t>Transparent &amp; Cost-Effective: Targeting the gap left by expensive legacy competitors.</a:t>
            </a:r>
          </a:p>
          <a:p>
            <a:r>
              <a:rPr lang="en-US"/>
              <a:t>Automated Processes: Digital prescriptions and LibrePDF report generation.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Technology Stack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Backend Framework: Java, Spring Boot, Spring MVC, Spring Data JPA</a:t>
            </a:r>
          </a:p>
          <a:p>
            <a:r>
              <a:rPr lang="en-US"/>
              <a:t>Security: Spring Security for role-based access</a:t>
            </a:r>
          </a:p>
          <a:p>
            <a:r>
              <a:rPr lang="en-US"/>
              <a:t>Database: MySQL for robust relational data mapping</a:t>
            </a:r>
          </a:p>
          <a:p>
            <a:r>
              <a:rPr lang="en-US"/>
              <a:t>Frontend UI: JSP (JavaServer Pages), JSTL, HTML, CSS</a:t>
            </a:r>
          </a:p>
          <a:p>
            <a:r>
              <a:rPr lang="en-US"/>
              <a:t>Reporting: LibrePDF (OpenPDF) for generating PDF prescriptions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Architectural Design (MVC)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View Layer (JSP): Presents the user interface (Dashboards).</a:t>
            </a:r>
          </a:p>
          <a:p>
            <a:r>
              <a:rPr lang="en-US"/>
              <a:t>Controller Layer: REST and MVC Controllers (e.g., PatientController).</a:t>
            </a:r>
          </a:p>
          <a:p>
            <a:r>
              <a:rPr lang="en-US"/>
              <a:t>Service Layer: Core business logic and transaction management.</a:t>
            </a:r>
          </a:p>
          <a:p>
            <a:r>
              <a:rPr lang="en-US"/>
              <a:t>Repository Layer (Spring Data JPA): Database CRUD operations.</a:t>
            </a:r>
          </a:p>
          <a:p>
            <a:r>
              <a:rPr lang="en-US"/>
              <a:t>Security Layer: Validates user roles and permissions.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Modules 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User &amp; Authentication Module</a:t>
            </a:r>
          </a:p>
          <a:p>
            <a:r>
              <a:rPr lang="en-US"/>
              <a:t>Patient Management</a:t>
            </a:r>
          </a:p>
          <a:p>
            <a:r>
              <a:rPr lang="en-US"/>
              <a:t>Doctor &amp; Appointment Management</a:t>
            </a:r>
          </a:p>
          <a:p>
            <a:r>
              <a:rPr lang="en-US"/>
              <a:t>Emergency &amp; Ambulance Services</a:t>
            </a:r>
          </a:p>
          <a:p>
            <a:r>
              <a:rPr lang="en-US"/>
              <a:t>Blood Bank Management</a:t>
            </a:r>
          </a:p>
          <a:p>
            <a:r>
              <a:rPr lang="en-US"/>
              <a:t>Bed &amp; Ward Management</a:t>
            </a:r>
          </a:p>
          <a:p>
            <a:r>
              <a:rPr lang="en-US"/>
              <a:t>Pharmacy &amp; Inventory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Role-Based Access Control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Admin: Complete system oversight, staff management, inventory control.</a:t>
            </a:r>
          </a:p>
          <a:p>
            <a:r>
              <a:rPr lang="en-US"/>
              <a:t>Doctor: Views appointments, patient history, writes digital prescriptions.</a:t>
            </a:r>
          </a:p>
          <a:p>
            <a:r>
              <a:rPr lang="en-US"/>
              <a:t>Patient: Books appointments, views records, requests emergency services.</a:t>
            </a:r>
          </a:p>
          <a:p>
            <a:r>
              <a:rPr lang="en-US"/>
              <a:t>Staff/Vendor: Manages equipment and pharmaceutical supplies.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Core Healthcare Services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Patient Operations:</a:t>
            </a:r>
          </a:p>
          <a:p>
            <a:r>
              <a:rPr lang="en-US"/>
              <a:t>- Seamless Registration &amp; Profile management</a:t>
            </a:r>
          </a:p>
          <a:p>
            <a:r>
              <a:rPr lang="en-US"/>
              <a:t>- Access to personal Medical Records</a:t>
            </a:r>
          </a:p>
          <a:p>
            <a:r>
              <a:rPr lang="en-US"/>
              <a:t>Doctor Operations:</a:t>
            </a:r>
          </a:p>
          <a:p>
            <a:r>
              <a:rPr lang="en-US"/>
              <a:t>- Interactive appointment scheduling</a:t>
            </a:r>
          </a:p>
          <a:p>
            <a:r>
              <a:rPr lang="en-US"/>
              <a:t>- Creating Prescription entries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Critical Care &amp; Life Support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Emergency Services (EmergencyController):</a:t>
            </a:r>
          </a:p>
          <a:p>
            <a:r>
              <a:rPr lang="en-US"/>
              <a:t>- Fast-track Emergency Request handling</a:t>
            </a:r>
          </a:p>
          <a:p>
            <a:r>
              <a:rPr lang="en-US"/>
              <a:t>- Real-time Ambulance dispatch tracking (AmbulanceController)</a:t>
            </a:r>
          </a:p>
          <a:p>
            <a:r>
              <a:rPr lang="en-US"/>
              <a:t>Blood Bank (BloodBankController):</a:t>
            </a:r>
          </a:p>
          <a:p>
            <a:r>
              <a:rPr lang="en-US"/>
              <a:t>- Monitoring Blood Inventory by group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Hospital Resources Management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Bed Management (BedManagementController):</a:t>
            </a:r>
          </a:p>
          <a:p>
            <a:r>
              <a:rPr lang="en-US"/>
              <a:t>- Tracking allocations across Room types (ICU, General, Private)</a:t>
            </a:r>
          </a:p>
          <a:p>
            <a:r>
              <a:rPr lang="en-US"/>
              <a:t>Pharmacy &amp; Inventory (InventoryController):</a:t>
            </a:r>
          </a:p>
          <a:p>
            <a:r>
              <a:rPr lang="en-US"/>
              <a:t>- Tracking Medicine stock and expiry</a:t>
            </a:r>
          </a:p>
          <a:p>
            <a:r>
              <a:rPr lang="en-US"/>
              <a:t>- Managing Vendor details and handling EquipmentRequests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Entities &amp; Database Design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User &amp; Role: Base authentication tables.</a:t>
            </a:r>
          </a:p>
          <a:p>
            <a:r>
              <a:rPr lang="en-US"/>
              <a:t>Patient &amp; Doctor: Linked via Appointment and MedicalRecord.</a:t>
            </a:r>
          </a:p>
          <a:p>
            <a:r>
              <a:rPr lang="en-US"/>
              <a:t>Prescription &amp; Medicine: One-to-Many mapping for treatments.</a:t>
            </a:r>
          </a:p>
          <a:p>
            <a:r>
              <a:rPr lang="en-US"/>
              <a:t>Room &amp; Bed: Hierarchical mapping for ward management.</a:t>
            </a:r>
          </a:p>
          <a:p>
            <a:r>
              <a:rPr lang="en-US"/>
              <a:t>(Insert ER Diagram / Schema Here)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Benefits &amp; Advantages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 Patients: Reduced waiting times and instant digital health records.</a:t>
            </a:r>
          </a:p>
          <a:p>
            <a:r>
              <a:rPr lang="en-US"/>
              <a:t>For Doctors: Quick access to patient history and organized schedules.</a:t>
            </a:r>
          </a:p>
          <a:p>
            <a:r>
              <a:rPr lang="en-US"/>
              <a:t>Advantages: Eliminates paperwork, fast-tracks emergency response, prevents data loss.</a:t>
            </a:r>
          </a:p>
          <a:p>
            <a:r>
              <a:rPr lang="en-US"/>
              <a:t>Limitations: High initial setup cost and staff training time.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Enhancements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Payment Gateway Integration for online billing.</a:t>
            </a:r>
          </a:p>
          <a:p>
            <a:r>
              <a:rPr lang="en-US"/>
              <a:t>AI-Powered Diagnostics: Predictive analytics for patient deterioration.</a:t>
            </a:r>
          </a:p>
          <a:p>
            <a:r>
              <a:rPr lang="en-US"/>
              <a:t>Telemedicine 2.0: Integrated video consultation tools.</a:t>
            </a:r>
          </a:p>
          <a:p>
            <a:r>
              <a:rPr lang="en-US"/>
              <a:t>IoT Wearable Integration: Real-time syncing from patient smartwatches.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Indian HMS market is expanding, driven by ABDM and cloud technology.</a:t>
            </a:r>
          </a:p>
          <a:p>
            <a:r>
              <a:rPr lang="en-US"/>
              <a:t>Our Spring Boot-based HMS provides a robust, scalable, and secure platform.</a:t>
            </a:r>
          </a:p>
          <a:p>
            <a:r>
              <a:rPr lang="en-US"/>
              <a:t>It perfectly balances clinical depth, operational ease, and affordability.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Questions &amp; Answers</a:t>
            </a:r>
          </a:p>
          <a:p>
            <a:r>
              <a:rPr lang="en-US"/>
              <a:t>We are happy to address any queries regarding our system architecture or market research.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